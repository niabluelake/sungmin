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A6DC6D-C14E-4C23-9C41-505AFB62194C}">
  <a:tblStyle styleId="{67A6DC6D-C14E-4C23-9C41-505AFB6219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197802d9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197802d9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197802d9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197802d9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197802d9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197802d9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772604"/>
            <a:ext cx="7299398" cy="437089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5709900" y="772600"/>
            <a:ext cx="327600" cy="3105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endParaRPr/>
          </a:p>
        </p:txBody>
      </p:sp>
      <p:graphicFrame>
        <p:nvGraphicFramePr>
          <p:cNvPr id="56" name="Google Shape;56;p13"/>
          <p:cNvGraphicFramePr/>
          <p:nvPr/>
        </p:nvGraphicFramePr>
        <p:xfrm>
          <a:off x="82775" y="7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{67A6DC6D-C14E-4C23-9C41-505AFB62194C}</a:tableStyleId>
              </a:tblPr>
              <a:tblGrid>
                <a:gridCol w="1002550"/>
                <a:gridCol w="992275"/>
                <a:gridCol w="852825"/>
                <a:gridCol w="760675"/>
                <a:gridCol w="902075"/>
                <a:gridCol w="902075"/>
                <a:gridCol w="902075"/>
                <a:gridCol w="902075"/>
              </a:tblGrid>
              <a:tr h="155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Page title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메인 화면</a:t>
                      </a:r>
                      <a:endParaRPr sz="900"/>
                    </a:p>
                  </a:txBody>
                  <a:tcPr marT="0" marB="0" marR="0" marL="0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Screen ID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</a:t>
                      </a:r>
                      <a:r>
                        <a:rPr lang="ko" sz="900"/>
                        <a:t>Main-01</a:t>
                      </a:r>
                      <a:endParaRPr sz="900"/>
                    </a:p>
                  </a:txBody>
                  <a:tcPr marT="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Author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성민</a:t>
                      </a:r>
                      <a:endParaRPr sz="900"/>
                    </a:p>
                  </a:txBody>
                  <a:tcPr marT="0" marB="0" marR="0" marL="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Date</a:t>
                      </a:r>
                      <a:endParaRPr sz="1000"/>
                    </a:p>
                  </a:txBody>
                  <a:tcPr marT="0" marB="0" marR="0" marL="0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</a:t>
                      </a:r>
                      <a:r>
                        <a:rPr lang="ko" sz="900"/>
                        <a:t>2026.03.22</a:t>
                      </a:r>
                      <a:endParaRPr sz="900"/>
                    </a:p>
                  </a:txBody>
                  <a:tcPr marT="0" marB="0" marR="0" marL="0"/>
                </a:tc>
              </a:tr>
              <a:tr h="155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Screen Path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메인 &gt; 홈</a:t>
                      </a:r>
                      <a:endParaRPr sz="900"/>
                    </a:p>
                  </a:txBody>
                  <a:tcPr marT="0" marB="0" marR="0" marL="0"/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57" name="Google Shape;57;p13"/>
          <p:cNvSpPr/>
          <p:nvPr/>
        </p:nvSpPr>
        <p:spPr>
          <a:xfrm>
            <a:off x="3691100" y="1467175"/>
            <a:ext cx="327600" cy="3105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876825" y="3516925"/>
            <a:ext cx="327600" cy="3105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2355525" y="3360600"/>
            <a:ext cx="327600" cy="3105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</a:t>
            </a:r>
            <a:endParaRPr/>
          </a:p>
        </p:txBody>
      </p:sp>
      <p:graphicFrame>
        <p:nvGraphicFramePr>
          <p:cNvPr id="60" name="Google Shape;60;p13"/>
          <p:cNvGraphicFramePr/>
          <p:nvPr/>
        </p:nvGraphicFramePr>
        <p:xfrm>
          <a:off x="7398325" y="1083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{67A6DC6D-C14E-4C23-9C41-505AFB62194C}</a:tableStyleId>
              </a:tblPr>
              <a:tblGrid>
                <a:gridCol w="1634025"/>
              </a:tblGrid>
              <a:tr h="16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000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b="1" sz="1000"/>
                    </a:p>
                  </a:txBody>
                  <a:tcPr marT="0" marB="0" marR="0" marL="0">
                    <a:solidFill>
                      <a:srgbClr val="B7B7B7"/>
                    </a:solidFill>
                  </a:tcPr>
                </a:tc>
              </a:tr>
              <a:tr h="9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1. 네비게이션바.</a:t>
                      </a:r>
                      <a:endParaRPr sz="1000"/>
                    </a:p>
                  </a:txBody>
                  <a:tcPr marT="0" marB="0" marR="0" marL="0"/>
                </a:tc>
              </a:tr>
              <a:tr h="9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2. 서비스 페이지 구조를    간단하게 설명합니다.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/>
                </a:tc>
              </a:tr>
              <a:tr h="9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3. 분석 서비스 버튼, 버튼을 누르면 서비스 1 페이지로 이동합니다.</a:t>
                      </a:r>
                      <a:endParaRPr sz="1000"/>
                    </a:p>
                  </a:txBody>
                  <a:tcPr marT="0" marB="0" marR="0" marL="0"/>
                </a:tc>
              </a:tr>
              <a:tr h="9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4. 서비스 상세 가이드 버튼, 누르면 단계별 서비스 흐름을 확인 가능합니다.</a:t>
                      </a:r>
                      <a:endParaRPr sz="1000"/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0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" name="Google Shape;66;p14"/>
          <p:cNvGraphicFramePr/>
          <p:nvPr/>
        </p:nvGraphicFramePr>
        <p:xfrm>
          <a:off x="77450" y="950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{67A6DC6D-C14E-4C23-9C41-505AFB62194C}</a:tableStyleId>
              </a:tblPr>
              <a:tblGrid>
                <a:gridCol w="1017050"/>
                <a:gridCol w="1123650"/>
                <a:gridCol w="876450"/>
                <a:gridCol w="913325"/>
                <a:gridCol w="796125"/>
                <a:gridCol w="824475"/>
                <a:gridCol w="771625"/>
                <a:gridCol w="998175"/>
              </a:tblGrid>
              <a:tr h="155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Page title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사용자 정보 입력</a:t>
                      </a:r>
                      <a:endParaRPr sz="900"/>
                    </a:p>
                  </a:txBody>
                  <a:tcPr marT="0" marB="0" marR="0" marL="0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Screen ID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Serv-01</a:t>
                      </a:r>
                      <a:endParaRPr sz="900"/>
                    </a:p>
                  </a:txBody>
                  <a:tcPr marT="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Author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성민</a:t>
                      </a:r>
                      <a:endParaRPr sz="900"/>
                    </a:p>
                  </a:txBody>
                  <a:tcPr marT="0" marB="0" marR="0" marL="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Date</a:t>
                      </a:r>
                      <a:endParaRPr sz="1000"/>
                    </a:p>
                  </a:txBody>
                  <a:tcPr marT="0" marB="0" marR="0" marL="0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2026.03.22</a:t>
                      </a:r>
                      <a:endParaRPr sz="900"/>
                    </a:p>
                  </a:txBody>
                  <a:tcPr marT="0" marB="0" marR="0" marL="0"/>
                </a:tc>
              </a:tr>
              <a:tr h="155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Screen Path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메인 &gt; 식습관 분석</a:t>
                      </a:r>
                      <a:endParaRPr sz="900"/>
                    </a:p>
                  </a:txBody>
                  <a:tcPr marT="0" marB="0" marR="0" marL="0"/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/>
                </a:tc>
              </a:tr>
            </a:tbl>
          </a:graphicData>
        </a:graphic>
      </p:graphicFrame>
      <p:graphicFrame>
        <p:nvGraphicFramePr>
          <p:cNvPr id="67" name="Google Shape;67;p14"/>
          <p:cNvGraphicFramePr/>
          <p:nvPr/>
        </p:nvGraphicFramePr>
        <p:xfrm>
          <a:off x="7398325" y="1083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{67A6DC6D-C14E-4C23-9C41-505AFB62194C}</a:tableStyleId>
              </a:tblPr>
              <a:tblGrid>
                <a:gridCol w="1634025"/>
              </a:tblGrid>
              <a:tr h="16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000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b="1" sz="1000"/>
                    </a:p>
                  </a:txBody>
                  <a:tcPr marT="0" marB="0" marR="0" marL="0">
                    <a:solidFill>
                      <a:srgbClr val="B7B7B7"/>
                    </a:solidFill>
                  </a:tcPr>
                </a:tc>
              </a:tr>
              <a:tr h="9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1. 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페이지의 제목과 설명.</a:t>
                      </a:r>
                      <a:endParaRPr sz="1000"/>
                    </a:p>
                  </a:txBody>
                  <a:tcPr marT="0" marB="0" marR="0" marL="0"/>
                </a:tc>
              </a:tr>
              <a:tr h="9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2. 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서비스 1의 기능을 사용하기 위한 필수 정보를 입력받는 란 입니다.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/>
                </a:tc>
              </a:tr>
              <a:tr h="9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3. 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입력을 한 후 분석을 위한 이동을 하는 버튼, 결과 확인 화면으로 이동합니다.</a:t>
                      </a:r>
                      <a:endParaRPr sz="1000"/>
                    </a:p>
                  </a:txBody>
                  <a:tcPr marT="0" marB="0" marR="0" marL="0"/>
                </a:tc>
              </a:tr>
              <a:tr h="9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4. 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서비스를 중단하고 메인 화면으로 이동하는 버튼.</a:t>
                      </a:r>
                      <a:endParaRPr sz="1000"/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68" name="Google Shape;68;p14"/>
          <p:cNvSpPr/>
          <p:nvPr/>
        </p:nvSpPr>
        <p:spPr>
          <a:xfrm>
            <a:off x="714550" y="735400"/>
            <a:ext cx="327600" cy="3105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645000" y="1573975"/>
            <a:ext cx="327600" cy="3105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</a:t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3870125" y="3787725"/>
            <a:ext cx="327600" cy="3105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</a:t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1860100" y="3686850"/>
            <a:ext cx="327600" cy="3105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7" name="Google Shape;77;p15"/>
          <p:cNvGraphicFramePr/>
          <p:nvPr/>
        </p:nvGraphicFramePr>
        <p:xfrm>
          <a:off x="45575" y="72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{67A6DC6D-C14E-4C23-9C41-505AFB62194C}</a:tableStyleId>
              </a:tblPr>
              <a:tblGrid>
                <a:gridCol w="1021450"/>
                <a:gridCol w="980200"/>
                <a:gridCol w="899700"/>
                <a:gridCol w="856925"/>
                <a:gridCol w="837200"/>
                <a:gridCol w="919100"/>
                <a:gridCol w="919100"/>
                <a:gridCol w="9191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Page title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</a:t>
                      </a:r>
                      <a:r>
                        <a:rPr lang="ko" sz="900"/>
                        <a:t>분석 결과</a:t>
                      </a:r>
                      <a:endParaRPr sz="900"/>
                    </a:p>
                  </a:txBody>
                  <a:tcPr marT="0" marB="0" marR="0" marL="0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Screen ID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Serv-02</a:t>
                      </a:r>
                      <a:endParaRPr sz="900"/>
                    </a:p>
                  </a:txBody>
                  <a:tcPr marT="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Author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성민</a:t>
                      </a:r>
                      <a:endParaRPr sz="900"/>
                    </a:p>
                  </a:txBody>
                  <a:tcPr marT="0" marB="0" marR="0" marL="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Date</a:t>
                      </a:r>
                      <a:endParaRPr sz="1000"/>
                    </a:p>
                  </a:txBody>
                  <a:tcPr marT="0" marB="0" marR="0" marL="0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2026.03.22</a:t>
                      </a:r>
                      <a:endParaRPr sz="900"/>
                    </a:p>
                  </a:txBody>
                  <a:tcPr marT="0" marB="0" marR="0" marL="0"/>
                </a:tc>
              </a:tr>
              <a:tr h="155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Screen Path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</a:t>
                      </a:r>
                      <a:r>
                        <a:rPr lang="ko" sz="900"/>
                        <a:t>메인 &gt; 식습관 분석</a:t>
                      </a:r>
                      <a:r>
                        <a:rPr lang="ko" sz="900"/>
                        <a:t> &gt; </a:t>
                      </a:r>
                      <a:r>
                        <a:rPr lang="ko" sz="900"/>
                        <a:t>분석 결과</a:t>
                      </a:r>
                      <a:endParaRPr sz="900"/>
                    </a:p>
                  </a:txBody>
                  <a:tcPr marT="0" marB="0" marR="0" marL="0"/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/>
                </a:tc>
              </a:tr>
            </a:tbl>
          </a:graphicData>
        </a:graphic>
      </p:graphicFrame>
      <p:graphicFrame>
        <p:nvGraphicFramePr>
          <p:cNvPr id="78" name="Google Shape;78;p15"/>
          <p:cNvGraphicFramePr/>
          <p:nvPr/>
        </p:nvGraphicFramePr>
        <p:xfrm>
          <a:off x="7398325" y="1083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{67A6DC6D-C14E-4C23-9C41-505AFB62194C}</a:tableStyleId>
              </a:tblPr>
              <a:tblGrid>
                <a:gridCol w="1634025"/>
              </a:tblGrid>
              <a:tr h="16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b="1" sz="1000"/>
                    </a:p>
                  </a:txBody>
                  <a:tcPr marT="0" marB="0" marR="0" marL="0">
                    <a:solidFill>
                      <a:srgbClr val="B7B7B7"/>
                    </a:solidFill>
                  </a:tcPr>
                </a:tc>
              </a:tr>
              <a:tr h="9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1. 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페이지의 제목과 설명.</a:t>
                      </a:r>
                      <a:endParaRPr sz="1000"/>
                    </a:p>
                  </a:txBody>
                  <a:tcPr marT="0" marB="0" marR="0" marL="0"/>
                </a:tc>
              </a:tr>
              <a:tr h="9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2. 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입력받은 정보 요약과 식습관 유형, 소속된 그룹을 알려준다.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/>
                </a:tc>
              </a:tr>
              <a:tr h="9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3.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정보를 기반으로 사용자에게 개선 가이드를 보여주는 버튼</a:t>
                      </a:r>
                      <a:endParaRPr sz="1000"/>
                    </a:p>
                  </a:txBody>
                  <a:tcPr marT="0" marB="0" marR="0" marL="0"/>
                </a:tc>
              </a:tr>
              <a:tr h="9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4. 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정보를 다시 입력하는 버튼, 클릭시 사용자 정보 입력 페이지로 이동한다.</a:t>
                      </a:r>
                      <a:endParaRPr sz="1000"/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79" name="Google Shape;79;p15"/>
          <p:cNvSpPr/>
          <p:nvPr/>
        </p:nvSpPr>
        <p:spPr>
          <a:xfrm>
            <a:off x="677625" y="550650"/>
            <a:ext cx="327600" cy="3105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1719625" y="1681350"/>
            <a:ext cx="327600" cy="3105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</a:t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1763950" y="3558450"/>
            <a:ext cx="327600" cy="3105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</a:t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3730150" y="3686850"/>
            <a:ext cx="327600" cy="3105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/>
          <p:cNvPicPr preferRelativeResize="0"/>
          <p:nvPr/>
        </p:nvPicPr>
        <p:blipFill rotWithShape="1">
          <a:blip r:embed="rId3">
            <a:alphaModFix/>
          </a:blip>
          <a:srcRect b="0" l="0" r="0" t="818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" name="Google Shape;88;p16"/>
          <p:cNvGraphicFramePr/>
          <p:nvPr/>
        </p:nvGraphicFramePr>
        <p:xfrm>
          <a:off x="30625" y="8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{67A6DC6D-C14E-4C23-9C41-505AFB62194C}</a:tableStyleId>
              </a:tblPr>
              <a:tblGrid>
                <a:gridCol w="1021450"/>
                <a:gridCol w="980200"/>
                <a:gridCol w="899700"/>
                <a:gridCol w="856925"/>
                <a:gridCol w="837200"/>
                <a:gridCol w="919100"/>
                <a:gridCol w="919100"/>
                <a:gridCol w="9191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Page title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</a:t>
                      </a:r>
                      <a:r>
                        <a:rPr lang="ko" sz="900"/>
                        <a:t>개선 가이드</a:t>
                      </a:r>
                      <a:endParaRPr sz="900"/>
                    </a:p>
                  </a:txBody>
                  <a:tcPr marT="0" marB="0" marR="0" marL="0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Screen ID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Serv-03</a:t>
                      </a:r>
                      <a:endParaRPr sz="900"/>
                    </a:p>
                  </a:txBody>
                  <a:tcPr marT="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Author</a:t>
                      </a:r>
                      <a:endParaRPr sz="1000"/>
                    </a:p>
                  </a:txBody>
                  <a:tcPr marT="0" marB="0" marR="0" marL="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성민</a:t>
                      </a:r>
                      <a:endParaRPr sz="900"/>
                    </a:p>
                  </a:txBody>
                  <a:tcPr marT="0" marB="0" marR="0" marL="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Date</a:t>
                      </a:r>
                      <a:endParaRPr sz="1000"/>
                    </a:p>
                  </a:txBody>
                  <a:tcPr marT="0" marB="0" marR="0" marL="0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2026.03.22</a:t>
                      </a:r>
                      <a:endParaRPr sz="900"/>
                    </a:p>
                  </a:txBody>
                  <a:tcPr marT="0" marB="0" marR="0" marL="0"/>
                </a:tc>
              </a:tr>
              <a:tr h="155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Screen Path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 메인 &gt; 식습관 분석 &gt; 분석 결과 &gt; </a:t>
                      </a:r>
                      <a:r>
                        <a:rPr lang="ko" sz="900"/>
                        <a:t>개선 가이드</a:t>
                      </a:r>
                      <a:endParaRPr sz="900"/>
                    </a:p>
                  </a:txBody>
                  <a:tcPr marT="0" marB="0" marR="0" marL="0"/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/>
                </a:tc>
              </a:tr>
            </a:tbl>
          </a:graphicData>
        </a:graphic>
      </p:graphicFrame>
      <p:graphicFrame>
        <p:nvGraphicFramePr>
          <p:cNvPr id="89" name="Google Shape;89;p16"/>
          <p:cNvGraphicFramePr/>
          <p:nvPr/>
        </p:nvGraphicFramePr>
        <p:xfrm>
          <a:off x="7398325" y="1083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{67A6DC6D-C14E-4C23-9C41-505AFB62194C}</a:tableStyleId>
              </a:tblPr>
              <a:tblGrid>
                <a:gridCol w="1634025"/>
              </a:tblGrid>
              <a:tr h="16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b="1" sz="1000"/>
                    </a:p>
                  </a:txBody>
                  <a:tcPr marT="0" marB="0" marR="0" marL="0">
                    <a:solidFill>
                      <a:srgbClr val="B7B7B7"/>
                    </a:solidFill>
                  </a:tcPr>
                </a:tc>
              </a:tr>
              <a:tr h="9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1. 페이지의 제목과 설명.</a:t>
                      </a:r>
                      <a:endParaRPr sz="1000"/>
                    </a:p>
                  </a:txBody>
                  <a:tcPr marT="0" marB="0" marR="0" marL="0"/>
                </a:tc>
              </a:tr>
              <a:tr h="9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2. 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분석결과 기반 개선 가이드를 사용자에게 제공하는 창 입니다.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/>
                </a:tc>
              </a:tr>
              <a:tr h="9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3.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정보를 다시 입력하기 위해 정보 입력 페이지로 이동하는 버튼, 클릭시 사용자 정보 입력 페이지로 이동합니다.</a:t>
                      </a:r>
                      <a:endParaRPr sz="1000"/>
                    </a:p>
                  </a:txBody>
                  <a:tcPr marT="0" marB="0" marR="0" marL="0"/>
                </a:tc>
              </a:tr>
              <a:tr h="9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4. 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서비스를 중단하고 메인 화면으로 이동하는 버튼.</a:t>
                      </a:r>
                      <a:endParaRPr sz="1000"/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90" name="Google Shape;90;p16"/>
          <p:cNvSpPr/>
          <p:nvPr/>
        </p:nvSpPr>
        <p:spPr>
          <a:xfrm>
            <a:off x="724475" y="772600"/>
            <a:ext cx="327600" cy="3105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1704675" y="1423025"/>
            <a:ext cx="327600" cy="3105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</a:t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1794375" y="3493875"/>
            <a:ext cx="327600" cy="3105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</a:t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3461300" y="3686850"/>
            <a:ext cx="327600" cy="3105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