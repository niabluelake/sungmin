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62" r:id="rId2"/>
    <p:sldId id="256" r:id="rId3"/>
    <p:sldId id="257" r:id="rId4"/>
    <p:sldId id="263" r:id="rId5"/>
    <p:sldId id="258" r:id="rId6"/>
    <p:sldId id="259" r:id="rId7"/>
    <p:sldId id="260" r:id="rId8"/>
    <p:sldId id="261" r:id="rId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403_26" initials="4" lastIdx="1" clrIdx="0">
    <p:extLst>
      <p:ext uri="{19B8F6BF-5375-455C-9EA6-DF929625EA0E}">
        <p15:presenceInfo xmlns:p15="http://schemas.microsoft.com/office/powerpoint/2012/main" userId="403_26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13" d="100"/>
          <a:sy n="113" d="100"/>
        </p:scale>
        <p:origin x="456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commentAuthors" Target="commentAuthor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4212" y="685799"/>
            <a:ext cx="8001000" cy="2971801"/>
          </a:xfrm>
        </p:spPr>
        <p:txBody>
          <a:bodyPr anchor="b">
            <a:normAutofit/>
          </a:bodyPr>
          <a:lstStyle>
            <a:lvl1pPr algn="l">
              <a:defRPr sz="4800">
                <a:effectLst/>
              </a:defRPr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4212" y="3843867"/>
            <a:ext cx="6400800" cy="1947333"/>
          </a:xfrm>
        </p:spPr>
        <p:txBody>
          <a:bodyPr anchor="t">
            <a:normAutofit/>
          </a:bodyPr>
          <a:lstStyle>
            <a:lvl1pPr marL="0" indent="0" algn="l">
              <a:buNone/>
              <a:defRPr sz="21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/>
              <a:t>클릭하여 마스터 부제목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1D9F81-FD54-4C34-88D6-037666921AA6}" type="datetimeFigureOut">
              <a:rPr lang="ko-KR" altLang="en-US" smtClean="0"/>
              <a:t>2026-03-16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804709-9A3F-4C9C-B9E5-F828F1D7AD60}" type="slidenum">
              <a:rPr lang="ko-KR" altLang="en-US" smtClean="0"/>
              <a:t>‹#›</a:t>
            </a:fld>
            <a:endParaRPr lang="ko-KR" altLang="en-US"/>
          </a:p>
        </p:txBody>
      </p:sp>
      <p:cxnSp>
        <p:nvCxnSpPr>
          <p:cNvPr id="16" name="Straight Connector 15"/>
          <p:cNvCxnSpPr/>
          <p:nvPr/>
        </p:nvCxnSpPr>
        <p:spPr>
          <a:xfrm flipH="1">
            <a:off x="8228012" y="8467"/>
            <a:ext cx="3810000" cy="381000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/>
          <p:cNvCxnSpPr/>
          <p:nvPr/>
        </p:nvCxnSpPr>
        <p:spPr>
          <a:xfrm flipH="1">
            <a:off x="6108170" y="91545"/>
            <a:ext cx="6080655" cy="6080655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/>
          <p:cNvCxnSpPr/>
          <p:nvPr/>
        </p:nvCxnSpPr>
        <p:spPr>
          <a:xfrm flipH="1">
            <a:off x="7235825" y="228600"/>
            <a:ext cx="4953000" cy="495300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/>
          <p:cNvCxnSpPr/>
          <p:nvPr/>
        </p:nvCxnSpPr>
        <p:spPr>
          <a:xfrm flipH="1">
            <a:off x="7335837" y="32278"/>
            <a:ext cx="4852989" cy="4852989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/>
          <p:cNvCxnSpPr/>
          <p:nvPr/>
        </p:nvCxnSpPr>
        <p:spPr>
          <a:xfrm flipH="1">
            <a:off x="7845426" y="609601"/>
            <a:ext cx="4343399" cy="4343399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4502751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1D9F81-FD54-4C34-88D6-037666921AA6}" type="datetimeFigureOut">
              <a:rPr lang="ko-KR" altLang="en-US" smtClean="0"/>
              <a:t>2026-03-16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804709-9A3F-4C9C-B9E5-F828F1D7AD6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66837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1" y="2006600"/>
            <a:ext cx="8534401" cy="2281600"/>
          </a:xfrm>
        </p:spPr>
        <p:txBody>
          <a:bodyPr anchor="b">
            <a:normAutofit/>
          </a:bodyPr>
          <a:lstStyle>
            <a:lvl1pPr algn="l">
              <a:defRPr sz="3600" b="0" cap="all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3" y="4495800"/>
            <a:ext cx="8534400" cy="14986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1D9F81-FD54-4C34-88D6-037666921AA6}" type="datetimeFigureOut">
              <a:rPr lang="ko-KR" altLang="en-US" smtClean="0"/>
              <a:t>2026-03-16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804709-9A3F-4C9C-B9E5-F828F1D7AD6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7616273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4211" y="685800"/>
            <a:ext cx="4937655" cy="3615267"/>
          </a:xfrm>
        </p:spPr>
        <p:txBody>
          <a:bodyPr>
            <a:normAutofit/>
          </a:bodyPr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08133" y="685801"/>
            <a:ext cx="4934479" cy="3615266"/>
          </a:xfrm>
        </p:spPr>
        <p:txBody>
          <a:bodyPr>
            <a:normAutofit/>
          </a:bodyPr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1D9F81-FD54-4C34-88D6-037666921AA6}" type="datetimeFigureOut">
              <a:rPr lang="ko-KR" altLang="en-US" smtClean="0"/>
              <a:t>2026-03-16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804709-9A3F-4C9C-B9E5-F828F1D7AD6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5732747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72080" y="685800"/>
            <a:ext cx="4649787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4211" y="1270529"/>
            <a:ext cx="4937655" cy="3030538"/>
          </a:xfrm>
        </p:spPr>
        <p:txBody>
          <a:bodyPr anchor="t">
            <a:normAutofit/>
          </a:bodyPr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079066" y="685800"/>
            <a:ext cx="4665134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806545" y="1262062"/>
            <a:ext cx="4929188" cy="3030538"/>
          </a:xfrm>
        </p:spPr>
        <p:txBody>
          <a:bodyPr anchor="t">
            <a:normAutofit/>
          </a:bodyPr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1D9F81-FD54-4C34-88D6-037666921AA6}" type="datetimeFigureOut">
              <a:rPr lang="ko-KR" altLang="en-US" smtClean="0"/>
              <a:t>2026-03-16</a:t>
            </a:fld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804709-9A3F-4C9C-B9E5-F828F1D7AD6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5019423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1D9F81-FD54-4C34-88D6-037666921AA6}" type="datetimeFigureOut">
              <a:rPr lang="ko-KR" altLang="en-US" smtClean="0"/>
              <a:t>2026-03-16</a:t>
            </a:fld>
            <a:endParaRPr lang="ko-KR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804709-9A3F-4C9C-B9E5-F828F1D7AD6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3136222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1D9F81-FD54-4C34-88D6-037666921AA6}" type="datetimeFigureOut">
              <a:rPr lang="ko-KR" altLang="en-US" smtClean="0"/>
              <a:t>2026-03-16</a:t>
            </a:fld>
            <a:endParaRPr lang="ko-KR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804709-9A3F-4C9C-B9E5-F828F1D7AD6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434402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085012" y="685800"/>
            <a:ext cx="3657600" cy="1371600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4212" y="685800"/>
            <a:ext cx="5943601" cy="5308600"/>
          </a:xfrm>
        </p:spPr>
        <p:txBody>
          <a:bodyPr anchor="ctr">
            <a:normAutofit/>
          </a:bodyPr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085012" y="2209799"/>
            <a:ext cx="3657600" cy="2091267"/>
          </a:xfrm>
        </p:spPr>
        <p:txBody>
          <a:bodyPr anchor="t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1D9F81-FD54-4C34-88D6-037666921AA6}" type="datetimeFigureOut">
              <a:rPr lang="ko-KR" altLang="en-US" smtClean="0"/>
              <a:t>2026-03-16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804709-9A3F-4C9C-B9E5-F828F1D7AD6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6547500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2812" y="1447800"/>
            <a:ext cx="6019800" cy="1143000"/>
          </a:xfrm>
        </p:spPr>
        <p:txBody>
          <a:bodyPr anchor="b">
            <a:normAutofit/>
          </a:bodyPr>
          <a:lstStyle>
            <a:lvl1pPr algn="l">
              <a:defRPr sz="2800" b="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989012" y="914400"/>
            <a:ext cx="3280974" cy="4572000"/>
          </a:xfrm>
          <a:prstGeom prst="snip2DiagRect">
            <a:avLst>
              <a:gd name="adj1" fmla="val 10815"/>
              <a:gd name="adj2" fmla="val 0"/>
            </a:avLst>
          </a:prstGeom>
          <a:ln w="15875">
            <a:solidFill>
              <a:schemeClr val="tx1">
                <a:alpha val="4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2812" y="2777066"/>
            <a:ext cx="6021388" cy="2048933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1D9F81-FD54-4C34-88D6-037666921AA6}" type="datetimeFigureOut">
              <a:rPr lang="ko-KR" altLang="en-US" smtClean="0"/>
              <a:t>2026-03-16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804709-9A3F-4C9C-B9E5-F828F1D7AD6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3356169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캡션 있는 파노라마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3"/>
          </p:nvPr>
        </p:nvSpPr>
        <p:spPr>
          <a:xfrm>
            <a:off x="685800" y="533400"/>
            <a:ext cx="10818812" cy="3124200"/>
          </a:xfrm>
          <a:prstGeom prst="snip2DiagRect">
            <a:avLst>
              <a:gd name="adj1" fmla="val 10815"/>
              <a:gd name="adj2" fmla="val 0"/>
            </a:avLst>
          </a:prstGeom>
          <a:ln w="15875">
            <a:solidFill>
              <a:schemeClr val="tx1">
                <a:alpha val="4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16" name="Text Placeholder 9"/>
          <p:cNvSpPr>
            <a:spLocks noGrp="1"/>
          </p:cNvSpPr>
          <p:nvPr>
            <p:ph type="body" sz="quarter" idx="14"/>
          </p:nvPr>
        </p:nvSpPr>
        <p:spPr>
          <a:xfrm>
            <a:off x="914402" y="3843867"/>
            <a:ext cx="8304210" cy="457200"/>
          </a:xfrm>
        </p:spPr>
        <p:txBody>
          <a:bodyPr anchor="t">
            <a:normAutofit/>
          </a:bodyPr>
          <a:lstStyle>
            <a:lvl1pPr marL="0" indent="0">
              <a:buFontTx/>
              <a:buNone/>
              <a:defRPr sz="16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1D9F81-FD54-4C34-88D6-037666921AA6}" type="datetimeFigureOut">
              <a:rPr lang="ko-KR" altLang="en-US" smtClean="0"/>
              <a:t>2026-03-16</a:t>
            </a:fld>
            <a:endParaRPr lang="ko-KR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804709-9A3F-4C9C-B9E5-F828F1D7AD6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4970522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제목 및 캡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3" y="685800"/>
            <a:ext cx="10058400" cy="2743200"/>
          </a:xfrm>
        </p:spPr>
        <p:txBody>
          <a:bodyPr anchor="ctr">
            <a:normAutofit/>
          </a:bodyPr>
          <a:lstStyle>
            <a:lvl1pPr algn="l">
              <a:defRPr sz="3200" b="0" cap="all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2" y="4114800"/>
            <a:ext cx="8535988" cy="18796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1D9F81-FD54-4C34-88D6-037666921AA6}" type="datetimeFigureOut">
              <a:rPr lang="ko-KR" altLang="en-US" smtClean="0"/>
              <a:t>2026-03-16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804709-9A3F-4C9C-B9E5-F828F1D7AD6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7902355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캡션 있는 인용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685800"/>
            <a:ext cx="9144001" cy="2743200"/>
          </a:xfrm>
        </p:spPr>
        <p:txBody>
          <a:bodyPr anchor="ctr">
            <a:normAutofit/>
          </a:bodyPr>
          <a:lstStyle>
            <a:lvl1pPr algn="l">
              <a:defRPr sz="3200" b="0" cap="all">
                <a:solidFill>
                  <a:schemeClr val="tx1"/>
                </a:solidFill>
              </a:defRPr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446212" y="3429000"/>
            <a:ext cx="8534400" cy="381000"/>
          </a:xfrm>
        </p:spPr>
        <p:txBody>
          <a:bodyPr anchor="ctr"/>
          <a:lstStyle>
            <a:lvl1pPr marL="0" indent="0">
              <a:buFontTx/>
              <a:buNone/>
              <a:defRPr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3" y="4301067"/>
            <a:ext cx="8534400" cy="1684865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1D9F81-FD54-4C34-88D6-037666921AA6}" type="datetimeFigureOut">
              <a:rPr lang="ko-KR" altLang="en-US" smtClean="0"/>
              <a:t>2026-03-16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804709-9A3F-4C9C-B9E5-F828F1D7AD60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14" name="TextBox 13"/>
          <p:cNvSpPr txBox="1"/>
          <p:nvPr/>
        </p:nvSpPr>
        <p:spPr>
          <a:xfrm>
            <a:off x="531812" y="81222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285412" y="276860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95266285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명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2" y="3429000"/>
            <a:ext cx="8534400" cy="1697400"/>
          </a:xfrm>
        </p:spPr>
        <p:txBody>
          <a:bodyPr anchor="b">
            <a:normAutofit/>
          </a:bodyPr>
          <a:lstStyle>
            <a:lvl1pPr algn="l">
              <a:defRPr sz="3200" b="0" cap="all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1" y="5132981"/>
            <a:ext cx="8535990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1D9F81-FD54-4C34-88D6-037666921AA6}" type="datetimeFigureOut">
              <a:rPr lang="ko-KR" altLang="en-US" smtClean="0"/>
              <a:t>2026-03-16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804709-9A3F-4C9C-B9E5-F828F1D7AD6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2988589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인용문 있는 명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685800"/>
            <a:ext cx="9144000" cy="2743200"/>
          </a:xfrm>
        </p:spPr>
        <p:txBody>
          <a:bodyPr anchor="ctr">
            <a:normAutofit/>
          </a:bodyPr>
          <a:lstStyle>
            <a:lvl1pPr algn="l">
              <a:defRPr sz="3200" b="0" cap="all">
                <a:solidFill>
                  <a:schemeClr val="tx1"/>
                </a:solidFill>
              </a:defRPr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4212" y="3928534"/>
            <a:ext cx="8534401" cy="1049866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all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ko-KR" altLang="en-US"/>
              <a:t>마스터 텍스트 스타일 편집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1" y="4978400"/>
            <a:ext cx="8534401" cy="10160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1D9F81-FD54-4C34-88D6-037666921AA6}" type="datetimeFigureOut">
              <a:rPr lang="ko-KR" altLang="en-US" smtClean="0"/>
              <a:t>2026-03-16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804709-9A3F-4C9C-B9E5-F828F1D7AD60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11" name="TextBox 10"/>
          <p:cNvSpPr txBox="1"/>
          <p:nvPr/>
        </p:nvSpPr>
        <p:spPr>
          <a:xfrm>
            <a:off x="531812" y="81222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285412" y="276860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69957101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참 또는 거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3" y="685800"/>
            <a:ext cx="10058400" cy="2743200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4212" y="3928534"/>
            <a:ext cx="8534400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all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ko-KR" altLang="en-US"/>
              <a:t>마스터 텍스트 스타일 편집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1" y="4766732"/>
            <a:ext cx="8534401" cy="1227667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1D9F81-FD54-4C34-88D6-037666921AA6}" type="datetimeFigureOut">
              <a:rPr lang="ko-KR" altLang="en-US" smtClean="0"/>
              <a:t>2026-03-16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804709-9A3F-4C9C-B9E5-F828F1D7AD6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7524212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1D9F81-FD54-4C34-88D6-037666921AA6}" type="datetimeFigureOut">
              <a:rPr lang="ko-KR" altLang="en-US" smtClean="0"/>
              <a:t>2026-03-16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804709-9A3F-4C9C-B9E5-F828F1D7AD6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7803478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85212" y="685800"/>
            <a:ext cx="2057400" cy="4572000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85800"/>
            <a:ext cx="7823200" cy="5308600"/>
          </a:xfrm>
        </p:spPr>
        <p:txBody>
          <a:bodyPr vert="eaVert" anchor="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1D9F81-FD54-4C34-88D6-037666921AA6}" type="datetimeFigureOut">
              <a:rPr lang="ko-KR" altLang="en-US" smtClean="0"/>
              <a:t>2026-03-16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804709-9A3F-4C9C-B9E5-F828F1D7AD6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4435024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9206969" y="2963333"/>
            <a:ext cx="2981858" cy="3208867"/>
            <a:chOff x="9206969" y="2963333"/>
            <a:chExt cx="2981858" cy="3208867"/>
          </a:xfrm>
        </p:grpSpPr>
        <p:cxnSp>
          <p:nvCxnSpPr>
            <p:cNvPr id="8" name="Straight Connector 7"/>
            <p:cNvCxnSpPr/>
            <p:nvPr/>
          </p:nvCxnSpPr>
          <p:spPr>
            <a:xfrm flipH="1">
              <a:off x="11276012" y="2963333"/>
              <a:ext cx="912814" cy="912812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/>
            <p:cNvCxnSpPr/>
            <p:nvPr/>
          </p:nvCxnSpPr>
          <p:spPr>
            <a:xfrm flipH="1">
              <a:off x="9206969" y="3190344"/>
              <a:ext cx="2981857" cy="2981856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/>
            <p:cNvCxnSpPr/>
            <p:nvPr/>
          </p:nvCxnSpPr>
          <p:spPr>
            <a:xfrm flipH="1">
              <a:off x="10292292" y="3285067"/>
              <a:ext cx="1896534" cy="1896533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/>
            <p:cNvCxnSpPr/>
            <p:nvPr/>
          </p:nvCxnSpPr>
          <p:spPr>
            <a:xfrm flipH="1">
              <a:off x="10443103" y="3131080"/>
              <a:ext cx="1745722" cy="174572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/>
            <p:cNvCxnSpPr/>
            <p:nvPr/>
          </p:nvCxnSpPr>
          <p:spPr>
            <a:xfrm flipH="1">
              <a:off x="10918826" y="3683001"/>
              <a:ext cx="1270001" cy="1269999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4212" y="4487332"/>
            <a:ext cx="8534400" cy="15070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2" y="685800"/>
            <a:ext cx="8534400" cy="361526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904412" y="6172200"/>
            <a:ext cx="1600200" cy="365125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10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fld id="{D31D9F81-FD54-4C34-88D6-037666921AA6}" type="datetimeFigureOut">
              <a:rPr lang="ko-KR" altLang="en-US" smtClean="0"/>
              <a:t>2026-03-16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4212" y="6172200"/>
            <a:ext cx="7543800" cy="365125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0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63200" y="5578475"/>
            <a:ext cx="1142245" cy="6699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32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fld id="{83804709-9A3F-4C9C-B9E5-F828F1D7AD6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10157208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l" defTabSz="457200" rtl="0" eaLnBrk="1" latinLnBrk="1" hangingPunct="1">
        <a:spcBef>
          <a:spcPct val="0"/>
        </a:spcBef>
        <a:buNone/>
        <a:defRPr sz="3600" kern="1200" cap="all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latinLnBrk="1" hangingPunct="1">
        <a:defRPr>
          <a:solidFill>
            <a:schemeClr val="tx2"/>
          </a:solidFill>
        </a:defRPr>
      </a:lvl2pPr>
      <a:lvl3pPr eaLnBrk="1" latinLnBrk="1" hangingPunct="1">
        <a:defRPr>
          <a:solidFill>
            <a:schemeClr val="tx2"/>
          </a:solidFill>
        </a:defRPr>
      </a:lvl3pPr>
      <a:lvl4pPr eaLnBrk="1" latinLnBrk="1" hangingPunct="1">
        <a:defRPr>
          <a:solidFill>
            <a:schemeClr val="tx2"/>
          </a:solidFill>
        </a:defRPr>
      </a:lvl4pPr>
      <a:lvl5pPr eaLnBrk="1" latinLnBrk="1" hangingPunct="1">
        <a:defRPr>
          <a:solidFill>
            <a:schemeClr val="tx2"/>
          </a:solidFill>
        </a:defRPr>
      </a:lvl5pPr>
      <a:lvl6pPr eaLnBrk="1" latinLnBrk="1" hangingPunct="1">
        <a:defRPr>
          <a:solidFill>
            <a:schemeClr val="tx2"/>
          </a:solidFill>
        </a:defRPr>
      </a:lvl6pPr>
      <a:lvl7pPr eaLnBrk="1" latinLnBrk="1" hangingPunct="1">
        <a:defRPr>
          <a:solidFill>
            <a:schemeClr val="tx2"/>
          </a:solidFill>
        </a:defRPr>
      </a:lvl7pPr>
      <a:lvl8pPr eaLnBrk="1" latinLnBrk="1" hangingPunct="1">
        <a:defRPr>
          <a:solidFill>
            <a:schemeClr val="tx2"/>
          </a:solidFill>
        </a:defRPr>
      </a:lvl8pPr>
      <a:lvl9pPr eaLnBrk="1" latin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1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20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1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8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1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6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1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1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1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1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1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1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7447463-CB99-41CE-AE58-9E89B53F45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1" y="1635125"/>
            <a:ext cx="10515600" cy="1325563"/>
          </a:xfrm>
        </p:spPr>
        <p:txBody>
          <a:bodyPr>
            <a:normAutofit fontScale="90000"/>
          </a:bodyPr>
          <a:lstStyle/>
          <a:p>
            <a:pPr algn="ctr"/>
            <a:r>
              <a:rPr lang="ko-KR" altLang="en-US" dirty="0"/>
              <a:t>생성형 </a:t>
            </a:r>
            <a:r>
              <a:rPr lang="en-US" altLang="ko-KR" dirty="0"/>
              <a:t>AI </a:t>
            </a:r>
            <a:r>
              <a:rPr lang="ko-KR" altLang="en-US" dirty="0"/>
              <a:t>기반 영양소 섭취 </a:t>
            </a:r>
            <a:br>
              <a:rPr lang="en-US" altLang="ko-KR" dirty="0"/>
            </a:br>
            <a:r>
              <a:rPr lang="ko-KR" altLang="en-US" dirty="0"/>
              <a:t>패턴 분석을 통한 </a:t>
            </a:r>
            <a:r>
              <a:rPr lang="ko-KR" altLang="en-US" dirty="0" err="1"/>
              <a:t>이상지질혈증</a:t>
            </a:r>
            <a:r>
              <a:rPr lang="ko-KR" altLang="en-US" dirty="0"/>
              <a:t> 위험도 예측 및 연령별 맞춤형 식습관 개선 가이드 제안 화면설계서</a:t>
            </a:r>
          </a:p>
        </p:txBody>
      </p:sp>
      <p:sp>
        <p:nvSpPr>
          <p:cNvPr id="4" name="제목 1">
            <a:extLst>
              <a:ext uri="{FF2B5EF4-FFF2-40B4-BE49-F238E27FC236}">
                <a16:creationId xmlns:a16="http://schemas.microsoft.com/office/drawing/2014/main" id="{6E4D365B-74A8-4E17-9BFE-107F633E288A}"/>
              </a:ext>
            </a:extLst>
          </p:cNvPr>
          <p:cNvSpPr txBox="1">
            <a:spLocks/>
          </p:cNvSpPr>
          <p:nvPr/>
        </p:nvSpPr>
        <p:spPr>
          <a:xfrm>
            <a:off x="10557934" y="5915819"/>
            <a:ext cx="1735667" cy="942181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 fontScale="97500"/>
          </a:bodyPr>
          <a:lstStyle>
            <a:lvl1pPr algn="l" defTabSz="457200" rtl="0" eaLnBrk="1" latinLnBrk="1" hangingPunct="1">
              <a:spcBef>
                <a:spcPct val="0"/>
              </a:spcBef>
              <a:buNone/>
              <a:defRPr sz="3600" kern="1200" cap="all">
                <a:ln w="3175" cmpd="sng">
                  <a:noFill/>
                </a:ln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defRPr>
            </a:lvl1pPr>
            <a:lvl2pPr eaLnBrk="1" latinLnBrk="1" hangingPunct="1">
              <a:defRPr>
                <a:solidFill>
                  <a:schemeClr val="tx2"/>
                </a:solidFill>
              </a:defRPr>
            </a:lvl2pPr>
            <a:lvl3pPr eaLnBrk="1" latinLnBrk="1" hangingPunct="1">
              <a:defRPr>
                <a:solidFill>
                  <a:schemeClr val="tx2"/>
                </a:solidFill>
              </a:defRPr>
            </a:lvl3pPr>
            <a:lvl4pPr eaLnBrk="1" latinLnBrk="1" hangingPunct="1">
              <a:defRPr>
                <a:solidFill>
                  <a:schemeClr val="tx2"/>
                </a:solidFill>
              </a:defRPr>
            </a:lvl4pPr>
            <a:lvl5pPr eaLnBrk="1" latinLnBrk="1" hangingPunct="1">
              <a:defRPr>
                <a:solidFill>
                  <a:schemeClr val="tx2"/>
                </a:solidFill>
              </a:defRPr>
            </a:lvl5pPr>
            <a:lvl6pPr eaLnBrk="1" latinLnBrk="1" hangingPunct="1">
              <a:defRPr>
                <a:solidFill>
                  <a:schemeClr val="tx2"/>
                </a:solidFill>
              </a:defRPr>
            </a:lvl6pPr>
            <a:lvl7pPr eaLnBrk="1" latinLnBrk="1" hangingPunct="1">
              <a:defRPr>
                <a:solidFill>
                  <a:schemeClr val="tx2"/>
                </a:solidFill>
              </a:defRPr>
            </a:lvl7pPr>
            <a:lvl8pPr eaLnBrk="1" latinLnBrk="1" hangingPunct="1">
              <a:defRPr>
                <a:solidFill>
                  <a:schemeClr val="tx2"/>
                </a:solidFill>
              </a:defRPr>
            </a:lvl8pPr>
            <a:lvl9pPr eaLnBrk="1" latinLnBrk="1" hangingPunct="1">
              <a:defRPr>
                <a:solidFill>
                  <a:schemeClr val="tx2"/>
                </a:solidFill>
              </a:defRPr>
            </a:lvl9pPr>
          </a:lstStyle>
          <a:p>
            <a:pPr algn="ctr"/>
            <a:r>
              <a:rPr lang="ko-KR" altLang="en-US" dirty="0"/>
              <a:t>성민</a:t>
            </a:r>
          </a:p>
        </p:txBody>
      </p:sp>
    </p:spTree>
    <p:extLst>
      <p:ext uri="{BB962C8B-B14F-4D97-AF65-F5344CB8AC3E}">
        <p14:creationId xmlns:p14="http://schemas.microsoft.com/office/powerpoint/2010/main" val="278793908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>
            <a:extLst>
              <a:ext uri="{FF2B5EF4-FFF2-40B4-BE49-F238E27FC236}">
                <a16:creationId xmlns:a16="http://schemas.microsoft.com/office/drawing/2014/main" id="{29F57129-69B1-4716-856A-E510D702290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98308" y="8467"/>
            <a:ext cx="9846184" cy="685800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68F1AA72-2530-4FC8-B05D-CC406EB2E8A9}"/>
              </a:ext>
            </a:extLst>
          </p:cNvPr>
          <p:cNvSpPr txBox="1"/>
          <p:nvPr/>
        </p:nvSpPr>
        <p:spPr>
          <a:xfrm>
            <a:off x="76199" y="118533"/>
            <a:ext cx="122766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 err="1"/>
              <a:t>메인화면</a:t>
            </a:r>
            <a:endParaRPr lang="en-US" altLang="ko-KR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CB71656-2281-407F-85F0-9A821E34FE03}"/>
              </a:ext>
            </a:extLst>
          </p:cNvPr>
          <p:cNvSpPr txBox="1"/>
          <p:nvPr/>
        </p:nvSpPr>
        <p:spPr>
          <a:xfrm>
            <a:off x="8187266" y="6180667"/>
            <a:ext cx="250613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>
                <a:solidFill>
                  <a:schemeClr val="accent4"/>
                </a:solidFill>
              </a:rPr>
              <a:t>알면 유용한 정보 란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C3937EE-4381-4C26-95FC-29B37D779DB7}"/>
              </a:ext>
            </a:extLst>
          </p:cNvPr>
          <p:cNvSpPr txBox="1"/>
          <p:nvPr/>
        </p:nvSpPr>
        <p:spPr>
          <a:xfrm>
            <a:off x="4868333" y="6180667"/>
            <a:ext cx="250613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>
                <a:solidFill>
                  <a:schemeClr val="accent4"/>
                </a:solidFill>
              </a:rPr>
              <a:t>간단한 서비스 안내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532061D-245A-4A9E-820F-56E1E2BB3623}"/>
              </a:ext>
            </a:extLst>
          </p:cNvPr>
          <p:cNvSpPr txBox="1"/>
          <p:nvPr/>
        </p:nvSpPr>
        <p:spPr>
          <a:xfrm>
            <a:off x="1532467" y="1498600"/>
            <a:ext cx="296333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>
                <a:solidFill>
                  <a:schemeClr val="accent4"/>
                </a:solidFill>
              </a:rPr>
              <a:t>버튼을 이용한 서비스 선택</a:t>
            </a:r>
          </a:p>
        </p:txBody>
      </p:sp>
    </p:spTree>
    <p:extLst>
      <p:ext uri="{BB962C8B-B14F-4D97-AF65-F5344CB8AC3E}">
        <p14:creationId xmlns:p14="http://schemas.microsoft.com/office/powerpoint/2010/main" val="226796738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>
            <a:extLst>
              <a:ext uri="{FF2B5EF4-FFF2-40B4-BE49-F238E27FC236}">
                <a16:creationId xmlns:a16="http://schemas.microsoft.com/office/drawing/2014/main" id="{62B02DC4-A847-4978-9988-B8336BD120E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21156" y="0"/>
            <a:ext cx="9349688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187FD68F-574E-4D9E-B6D5-CA8826AB7F6A}"/>
              </a:ext>
            </a:extLst>
          </p:cNvPr>
          <p:cNvSpPr txBox="1"/>
          <p:nvPr/>
        </p:nvSpPr>
        <p:spPr>
          <a:xfrm>
            <a:off x="76199" y="118533"/>
            <a:ext cx="122766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프로젝트 정보 페이지</a:t>
            </a:r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257109830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>
            <a:extLst>
              <a:ext uri="{FF2B5EF4-FFF2-40B4-BE49-F238E27FC236}">
                <a16:creationId xmlns:a16="http://schemas.microsoft.com/office/drawing/2014/main" id="{9ABA7451-84D8-4EFB-BCC5-73053D4E32F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03867" y="0"/>
            <a:ext cx="10024419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AD313136-0DA6-4AA0-B2D3-F1CDB5DC4027}"/>
              </a:ext>
            </a:extLst>
          </p:cNvPr>
          <p:cNvSpPr txBox="1"/>
          <p:nvPr/>
        </p:nvSpPr>
        <p:spPr>
          <a:xfrm>
            <a:off x="76199" y="118533"/>
            <a:ext cx="122766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서비스 소개 및 이용 방법 페이지</a:t>
            </a:r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343523710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>
            <a:extLst>
              <a:ext uri="{FF2B5EF4-FFF2-40B4-BE49-F238E27FC236}">
                <a16:creationId xmlns:a16="http://schemas.microsoft.com/office/drawing/2014/main" id="{FBEA17D5-DBB6-4EF5-8D41-CCD2D48968B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33404" y="0"/>
            <a:ext cx="9991991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B58AE7B-A939-424E-90D6-93D208F485DA}"/>
              </a:ext>
            </a:extLst>
          </p:cNvPr>
          <p:cNvSpPr txBox="1"/>
          <p:nvPr/>
        </p:nvSpPr>
        <p:spPr>
          <a:xfrm>
            <a:off x="7802" y="110066"/>
            <a:ext cx="162560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개인 </a:t>
            </a:r>
            <a:r>
              <a:rPr lang="ko-KR" altLang="en-US" dirty="0" err="1"/>
              <a:t>이상지질혈증</a:t>
            </a:r>
            <a:r>
              <a:rPr lang="ko-KR" altLang="en-US" dirty="0"/>
              <a:t> 위험도 예측 서비스 페이지</a:t>
            </a:r>
            <a:endParaRPr lang="en-US" altLang="ko-KR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E29B74C-3922-49ED-9B4E-6D6E9D941401}"/>
              </a:ext>
            </a:extLst>
          </p:cNvPr>
          <p:cNvSpPr txBox="1"/>
          <p:nvPr/>
        </p:nvSpPr>
        <p:spPr>
          <a:xfrm>
            <a:off x="8246533" y="5740401"/>
            <a:ext cx="324273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>
                <a:solidFill>
                  <a:schemeClr val="accent4"/>
                </a:solidFill>
              </a:rPr>
              <a:t>서비스를 제공하기 위한 정보를 입력 받는 페이지</a:t>
            </a:r>
          </a:p>
        </p:txBody>
      </p:sp>
    </p:spTree>
    <p:extLst>
      <p:ext uri="{BB962C8B-B14F-4D97-AF65-F5344CB8AC3E}">
        <p14:creationId xmlns:p14="http://schemas.microsoft.com/office/powerpoint/2010/main" val="31099386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>
            <a:extLst>
              <a:ext uri="{FF2B5EF4-FFF2-40B4-BE49-F238E27FC236}">
                <a16:creationId xmlns:a16="http://schemas.microsoft.com/office/drawing/2014/main" id="{7F6053FE-4A4C-4C92-9B8A-4994D2DDB7A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6095" y="0"/>
            <a:ext cx="9939809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199B6B1A-9A44-4BD0-A5B8-C8EB3D2F232B}"/>
              </a:ext>
            </a:extLst>
          </p:cNvPr>
          <p:cNvSpPr txBox="1"/>
          <p:nvPr/>
        </p:nvSpPr>
        <p:spPr>
          <a:xfrm>
            <a:off x="76199" y="118533"/>
            <a:ext cx="1227668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연령별 맞춤형 식습관 개선 가이드</a:t>
            </a:r>
            <a:endParaRPr lang="en-US" altLang="ko-KR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8FE726B-A6D5-4892-A38F-33786F75CE33}"/>
              </a:ext>
            </a:extLst>
          </p:cNvPr>
          <p:cNvSpPr txBox="1"/>
          <p:nvPr/>
        </p:nvSpPr>
        <p:spPr>
          <a:xfrm>
            <a:off x="7035799" y="1595861"/>
            <a:ext cx="324273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>
                <a:solidFill>
                  <a:schemeClr val="accent4"/>
                </a:solidFill>
              </a:rPr>
              <a:t>원하는 연령을 선택하고 가이드를 제공받는다</a:t>
            </a:r>
          </a:p>
        </p:txBody>
      </p:sp>
    </p:spTree>
    <p:extLst>
      <p:ext uri="{BB962C8B-B14F-4D97-AF65-F5344CB8AC3E}">
        <p14:creationId xmlns:p14="http://schemas.microsoft.com/office/powerpoint/2010/main" val="7339226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>
            <a:extLst>
              <a:ext uri="{FF2B5EF4-FFF2-40B4-BE49-F238E27FC236}">
                <a16:creationId xmlns:a16="http://schemas.microsoft.com/office/drawing/2014/main" id="{12646155-743B-4A60-86BE-03E56EC358E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3809" y="0"/>
            <a:ext cx="1004438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397736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>
            <a:extLst>
              <a:ext uri="{FF2B5EF4-FFF2-40B4-BE49-F238E27FC236}">
                <a16:creationId xmlns:a16="http://schemas.microsoft.com/office/drawing/2014/main" id="{F98EFF48-3914-47B3-A81C-A860259244B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1287" y="0"/>
            <a:ext cx="9909425" cy="685800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94B3DD9E-AE6C-4E19-A710-3609C519E0A5}"/>
              </a:ext>
            </a:extLst>
          </p:cNvPr>
          <p:cNvSpPr txBox="1"/>
          <p:nvPr/>
        </p:nvSpPr>
        <p:spPr>
          <a:xfrm>
            <a:off x="0" y="0"/>
            <a:ext cx="122766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데이터 분석 및 통계 페이지</a:t>
            </a:r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995901101"/>
      </p:ext>
    </p:extLst>
  </p:cSld>
  <p:clrMapOvr>
    <a:masterClrMapping/>
  </p:clrMapOvr>
</p:sld>
</file>

<file path=ppt/theme/theme1.xml><?xml version="1.0" encoding="utf-8"?>
<a:theme xmlns:a="http://schemas.openxmlformats.org/drawingml/2006/main" name="슬라이스">
  <a:themeElements>
    <a:clrScheme name="슬라이스">
      <a:dk1>
        <a:sysClr val="windowText" lastClr="000000"/>
      </a:dk1>
      <a:lt1>
        <a:sysClr val="window" lastClr="FFFFFF"/>
      </a:lt1>
      <a:dk2>
        <a:srgbClr val="146194"/>
      </a:dk2>
      <a:lt2>
        <a:srgbClr val="76DBF4"/>
      </a:lt2>
      <a:accent1>
        <a:srgbClr val="052F61"/>
      </a:accent1>
      <a:accent2>
        <a:srgbClr val="A50E82"/>
      </a:accent2>
      <a:accent3>
        <a:srgbClr val="14967C"/>
      </a:accent3>
      <a:accent4>
        <a:srgbClr val="6A9E1F"/>
      </a:accent4>
      <a:accent5>
        <a:srgbClr val="E87D37"/>
      </a:accent5>
      <a:accent6>
        <a:srgbClr val="C62324"/>
      </a:accent6>
      <a:hlink>
        <a:srgbClr val="0D2E46"/>
      </a:hlink>
      <a:folHlink>
        <a:srgbClr val="356A95"/>
      </a:folHlink>
    </a:clrScheme>
    <a:fontScheme name="슬라이스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슬라이스">
      <a:fillStyleLst>
        <a:solidFill>
          <a:schemeClr val="phClr"/>
        </a:solidFill>
        <a:gradFill rotWithShape="1">
          <a:gsLst>
            <a:gs pos="0">
              <a:schemeClr val="phClr">
                <a:tint val="62000"/>
                <a:hueMod val="94000"/>
                <a:satMod val="140000"/>
                <a:lumMod val="110000"/>
              </a:schemeClr>
            </a:gs>
            <a:gs pos="100000">
              <a:schemeClr val="phClr">
                <a:tint val="84000"/>
                <a:satMod val="16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hueMod val="94000"/>
                <a:satMod val="130000"/>
                <a:lumMod val="128000"/>
              </a:schemeClr>
            </a:gs>
            <a:gs pos="100000">
              <a:schemeClr val="phClr">
                <a:shade val="94000"/>
                <a:lumMod val="88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tint val="76000"/>
              <a:alpha val="60000"/>
              <a:hueMod val="94000"/>
            </a:schemeClr>
          </a:solidFill>
          <a:prstDash val="solid"/>
        </a:ln>
        <a:ln w="15875" cap="rnd" cmpd="sng" algn="ctr">
          <a:solidFill>
            <a:schemeClr val="phClr">
              <a:hueMod val="94000"/>
            </a:schemeClr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50800" dist="38100" dir="5400000" rotWithShape="0">
              <a:srgbClr val="000000">
                <a:alpha val="46000"/>
              </a:srgbClr>
            </a:outerShdw>
          </a:effectLst>
          <a:scene3d>
            <a:camera prst="orthographicFront">
              <a:rot lat="0" lon="0" rev="0"/>
            </a:camera>
            <a:lightRig rig="threePt" dir="t"/>
          </a:scene3d>
          <a:sp3d prstMaterial="plastic">
            <a:bevelT w="25400" h="25400"/>
          </a:sp3d>
        </a:effectStyle>
      </a:effectStyleLst>
      <a:bgFillStyleLst>
        <a:solidFill>
          <a:schemeClr val="phClr"/>
        </a:solidFill>
        <a:gradFill rotWithShape="1">
          <a:gsLst>
            <a:gs pos="10000">
              <a:schemeClr val="phClr">
                <a:tint val="97000"/>
                <a:hueMod val="92000"/>
                <a:satMod val="169000"/>
                <a:lumMod val="164000"/>
              </a:schemeClr>
            </a:gs>
            <a:gs pos="100000">
              <a:schemeClr val="phClr">
                <a:shade val="96000"/>
                <a:satMod val="120000"/>
                <a:lumMod val="90000"/>
              </a:schemeClr>
            </a:gs>
          </a:gsLst>
          <a:lin ang="6120000" scaled="1"/>
        </a:gradFill>
        <a:gradFill rotWithShape="1">
          <a:gsLst>
            <a:gs pos="0">
              <a:schemeClr val="phClr">
                <a:tint val="97000"/>
                <a:hueMod val="92000"/>
                <a:satMod val="169000"/>
                <a:lumMod val="164000"/>
              </a:schemeClr>
            </a:gs>
            <a:gs pos="100000">
              <a:schemeClr val="phClr">
                <a:shade val="96000"/>
                <a:satMod val="120000"/>
                <a:lumMod val="90000"/>
              </a:schemeClr>
            </a:gs>
          </a:gsLst>
          <a:path path="circle">
            <a:fillToRect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lice" id="{0507925B-6AC9-4358-8E18-C330545D08F8}" vid="{13FEC7C6-62A9-40C4-99D2-581AACACAA2F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Slice</Template>
  <TotalTime>14</TotalTime>
  <Words>70</Words>
  <Application>Microsoft Office PowerPoint</Application>
  <PresentationFormat>와이드스크린</PresentationFormat>
  <Paragraphs>13</Paragraphs>
  <Slides>8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8</vt:i4>
      </vt:variant>
    </vt:vector>
  </HeadingPairs>
  <TitlesOfParts>
    <vt:vector size="12" baseType="lpstr">
      <vt:lpstr>HY중고딕</vt:lpstr>
      <vt:lpstr>Century Gothic</vt:lpstr>
      <vt:lpstr>Wingdings 3</vt:lpstr>
      <vt:lpstr>슬라이스</vt:lpstr>
      <vt:lpstr>생성형 AI 기반 영양소 섭취  패턴 분석을 통한 이상지질혈증 위험도 예측 및 연령별 맞춤형 식습관 개선 가이드 제안 화면설계서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생성형 AI 기반 영양소 섭취  패턴 분석을 통한 이상지질혈증 위험도 예측 및 연령별 맞춤형 식습관 개선 가이드 제안 화면설계서</dc:title>
  <dc:creator>403_26</dc:creator>
  <cp:lastModifiedBy>403_26</cp:lastModifiedBy>
  <cp:revision>3</cp:revision>
  <dcterms:created xsi:type="dcterms:W3CDTF">2026-03-16T05:12:23Z</dcterms:created>
  <dcterms:modified xsi:type="dcterms:W3CDTF">2026-03-16T05:26:27Z</dcterms:modified>
</cp:coreProperties>
</file>